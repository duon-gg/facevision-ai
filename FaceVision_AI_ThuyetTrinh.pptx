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255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mở đầu: Giới thiệu tên đề tài, sinh viên, khoa, năm. Chào hội đồng.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Trình bày nhanh 7 phần chính. Tổng thời gian khoảng 15-20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Nhấn mạnh: bài toán thực tiễn, ứng dụng rộng, nhưng vẫn là thách thức mở trong CV.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Bảng so sánh 6 điểm cải tiến so với các công trình hiện tại. Nhấn mạnh Wing Loss và Adaptive Weighting.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Tất cả 6 mục tiêu đều đạt hoặc vượt. Đây là kết quả quan trọng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Pipeline 4 tầng xử lý tuần tự: Input → Detection → Preprocessing → Prediction. Kết quả trả về 3 thuộc tính.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Mô hình gồm: ResNet50 backbone (pretrained), SE Block (channel attention), 3 heads riêng biệt. Age Head sâu hơn vì regression khó hơn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Hệ thống modular, 7 module chính + 4 scripts + 1 app. Tổng ~4.500 dòng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9 bước tuần tự. Chế độ camera live: dùng Haar thay MTCNN, không dùng TTA → nhanh hơn.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Dataset UTKFace, chia 70/15/15 với stratify=gender. 3 kỹ thuật cân bằng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CLAHE xử lý trên kênh L của LAB → bảo toàn màu sắc. Val/Test KHÔNG dùng augmentation.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pha: đầu freeze backbone, sau unfreeze + differential LR. 9 kỹ thuật nâng 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 loss chuyên biệt + Adaptive Uncertainty tự cân bằng. Gender dễ nhất → model phân bổ compute cho Age/Race.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Training ổn định, không overfit, loss giảm đều. 50 epochs, ~3 giờ trên GTX 1650.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Kết quả test set. Tất cả metrics đều đạt. Điểm tổng 90/100, xếp hạng B+.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MAE thấp nhất ở trẻ em (1.67), cao nhất ở người cao tuổi (8.44). Xu hướng tự nhiên.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Gender classification gần state-of-the-art. Male recall xuất sắc, Female precision rất 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Race classification: Others yếu nhất vì nhóm gộp đa dạng. Black recall tốt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Radar chart 5 trục. Mô hình đạt gần target, ngoại trừ Race F1 cần improve.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chế độ inference: chính xác (MTCNN+TTA) vs nhanh (Haar). GPU tăng tốc 3-5×.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v3+ vượt v2 toàn diện. Race Acc tăng tận 8.7 điểm phần trăm. Rất ấn tượng.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Phân tích đóng góp từng kỹ thuật. Wing Loss và Focal Loss đóng góp nhiều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 hướng chính: model, data, deployment, features. Mỗi hướng có 4-5 ý tưởng cụ thể.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Có thể demo live nếu thầy/cô yêu cầu. Mở Streamlit trực tiếp.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kết luận quan trọng nhất. Nhấn mạnh: 6/6 mục tiêu đạt, v3+ vượt trội.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Cảm ơn hội đồng. Sẵn sàng trả lời câu hỏi.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FaceVision</a:t>
            </a:r>
            <a:r>
              <a:rPr dirty="0">
                <a:solidFill>
                  <a:schemeClr val="bg1"/>
                </a:solidFill>
              </a:rPr>
              <a:t>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7D2FE"/>
                </a:solidFill>
              </a:defRPr>
            </a:pPr>
            <a:r>
              <a:rPr>
                <a:solidFill>
                  <a:schemeClr val="bg1"/>
                </a:solidFill>
              </a:rPr>
              <a:t>Hệ thống dự đoán thuộc tính khuôn mặt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sử dụng Học sâu Đa nhiệm (Multi-Task Deep Learning)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5B4FC"/>
                </a:solidFill>
              </a:defRPr>
            </a:pPr>
            <a:r>
              <a:rPr>
                <a:solidFill>
                  <a:schemeClr val="bg1"/>
                </a:solidFill>
              </a:rPr>
              <a:t>Dự đoán đồng thời:  Tuổi  •  Giới tính  •  Sắc tộc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>
                <a:solidFill>
                  <a:schemeClr val="bg1"/>
                </a:solidFill>
              </a:rPr>
              <a:t>Sinh viên:  Nguyễn Văn Tùng Dương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5B4FC"/>
                </a:solidFill>
              </a:defRPr>
            </a:pPr>
            <a:r>
              <a:rPr>
                <a:solidFill>
                  <a:schemeClr val="bg1"/>
                </a:solidFill>
              </a:rPr>
              <a:t>Môn: Thị giác Máy tính  •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2/26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📋  Nội dung thuyết trình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64008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5087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Bối cảnh &amp; Lý do chọn đề tài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21408"/>
            <a:ext cx="64008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67128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Mục tiêu đồ án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79776"/>
            <a:ext cx="64008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825496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Kiến trúc hệ thống &amp; Mô hình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38144"/>
            <a:ext cx="64008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83864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Pipeline dữ liệu &amp; Tiền xử lý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96512"/>
            <a:ext cx="64008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142232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Quá trình huấn luyện &amp; Loss Functions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754879"/>
            <a:ext cx="64008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80059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Kết quả &amp; Đánh giá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13248"/>
            <a:ext cx="64008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458968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So sánh phiên bản &amp;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3/26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Bối cảnh thực tiễn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Phân tích khuôn mặt tự động — Nhu cầu đa lĩnh vực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103120" cy="11887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🔒 An ninh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Giám sát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645920"/>
            <a:ext cx="2103120" cy="11887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📢 Marketing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Quảng cáo mục tiêu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645920"/>
            <a:ext cx="2103120" cy="11887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🏥 Y tế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Nghiên cứu lão hóa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645920"/>
            <a:ext cx="2103120" cy="11887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🛒 TMĐT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Gợi ý sản phẩm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1645920"/>
            <a:ext cx="2103120" cy="11887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🎮 </a:t>
            </a: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trí</a:t>
            </a:r>
            <a:endParaRPr dirty="0"/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dirty="0"/>
              <a:t>Face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0F172A"/>
                </a:solidFill>
              </a:defRPr>
            </a:pPr>
            <a:r>
              <a:t>Thách thức kỹ thuật: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• Khuôn mặt con người vô cùng đa dạng (biểu cảm, ánh sáng, góc nghiêng)</a:t>
            </a:r>
          </a:p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• Quá trình lão hóa diễn ra phi tuyến, khác nhau theo sắc tộc/giới tính</a:t>
            </a:r>
          </a:p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• Dữ liệu thực tế mất cân bằng giữa các nhóm sắc tộc, nhóm tuổi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4/26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Lý do chọn đề tài &amp; Đóng góp mới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Vấn đề cũ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Giải pháp FaceVision AI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SmoothL1 Loss cho 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Wing Loss — nhạy với sai số nhỏ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CrossEntropy cho race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Focal Loss (γ=2) — focus mẫu khó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Trọng số task cố định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Adaptive Uncertainty Weighting — tự học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1 phương pháp detect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MTCNN + Haar Cascade (2 tầng fallback)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Không tiền xử lý DIP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CLAHE trên LAB color 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Inference 1 lần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TTA — 5 augmentations, trung bình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5/26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Mục tiêu đồ án — Tất cả 6/6 ĐẠT 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Mục tiêu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Chỉ tiêu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Kết quả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Đạt?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Dự đoán tuổi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MAE ≤ 5 năm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4,49 năm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Phân loại giới tính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Accuracy ≥ 90%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93,53%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Phân loại sắc tộc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Accuracy ≥ 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85,69%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Thời gian thực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≥ 15 FPS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17-25 FPS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Giao diện 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3 chế độ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Hoàn thành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Đánh giá toàn diện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13 biểu đồ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Hoàn thành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6/26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Kiến trúc hệ thống — Pipeline 4 tầng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029200" cy="10058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TẦNG 1: INPUT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Upload ảnh / Webcam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Clipboard / Camera 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5029200" cy="1005840"/>
          </a:xfrm>
          <a:prstGeom prst="round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TẦNG 2: FACE DETECTION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MTCNN (chính xác)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Haar Cascade (nhanh, fallback)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023360"/>
            <a:ext cx="502920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TẦNG 3: PREPROCESSING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Ensure RGB → CLAHE (LAB)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Resize 224×224 → Normalize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03520"/>
            <a:ext cx="5029200" cy="100584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TẦNG 4: PREDICTION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ResNet50 + SE Attention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→ 3 Heads (Age/Gender/Race)</a:t>
            </a:r>
          </a:p>
        </p:txBody>
      </p:sp>
      <p:sp>
        <p:nvSpPr>
          <p:cNvPr id="9" name="Down Arrow 8"/>
          <p:cNvSpPr/>
          <p:nvPr/>
        </p:nvSpPr>
        <p:spPr>
          <a:xfrm>
            <a:off x="2926080" y="2514600"/>
            <a:ext cx="274320" cy="365760"/>
          </a:xfrm>
          <a:prstGeom prst="downArrow">
            <a:avLst/>
          </a:prstGeom>
          <a:solidFill>
            <a:srgbClr val="817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own Arrow 9"/>
          <p:cNvSpPr/>
          <p:nvPr/>
        </p:nvSpPr>
        <p:spPr>
          <a:xfrm>
            <a:off x="2926080" y="3794760"/>
            <a:ext cx="274320" cy="365760"/>
          </a:xfrm>
          <a:prstGeom prst="downArrow">
            <a:avLst/>
          </a:prstGeom>
          <a:solidFill>
            <a:srgbClr val="817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own Arrow 10"/>
          <p:cNvSpPr/>
          <p:nvPr/>
        </p:nvSpPr>
        <p:spPr>
          <a:xfrm>
            <a:off x="2926080" y="5074920"/>
            <a:ext cx="274320" cy="365760"/>
          </a:xfrm>
          <a:prstGeom prst="downArrow">
            <a:avLst/>
          </a:prstGeom>
          <a:solidFill>
            <a:srgbClr val="817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0" y="3200400"/>
            <a:ext cx="411480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KẾT QUẢ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Tuổi: 25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Giới tính: Female (95%)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Sắc tộc: Asian (92%)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7/26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Kiến trúc mô hình chi tiết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ResNet50 + SE Attention + 3 Task-Specific Heads  (~26,2M params)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828800" cy="82296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Input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[B, 3, 224, 224]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77440" y="2103120"/>
            <a:ext cx="457200" cy="274320"/>
          </a:xfrm>
          <a:prstGeom prst="rightArrow">
            <a:avLst/>
          </a:prstGeom>
          <a:solidFill>
            <a:srgbClr val="817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26080" y="1554480"/>
            <a:ext cx="2286000" cy="1371600"/>
          </a:xfrm>
          <a:prstGeom prst="round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ResNet50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Backbone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(pretrained ImageNet)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23,5M params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303520" y="2103120"/>
            <a:ext cx="457200" cy="274320"/>
          </a:xfrm>
          <a:prstGeom prst="rightArrow">
            <a:avLst/>
          </a:prstGeom>
          <a:solidFill>
            <a:srgbClr val="817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852160" y="1554480"/>
            <a:ext cx="2103120" cy="13716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 Block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Channel Attention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2048→128→2048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Sigmoid gating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046720" y="2103120"/>
            <a:ext cx="457200" cy="274320"/>
          </a:xfrm>
          <a:prstGeom prst="rightArrow">
            <a:avLst/>
          </a:prstGeom>
          <a:solidFill>
            <a:srgbClr val="817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95360" y="1828800"/>
            <a:ext cx="1371600" cy="822960"/>
          </a:xfrm>
          <a:prstGeom prst="roundRect">
            <a:avLst/>
          </a:prstGeom>
          <a:solidFill>
            <a:srgbClr val="817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Feature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[B, 2048]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3840480"/>
            <a:ext cx="2743200" cy="12801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Age Head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FC: 2048→512→128→1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+ ReLU + clamp(0,120)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Regression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840480"/>
            <a:ext cx="2743200" cy="12801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Gender Head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FC: 2048→256→2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+ Softmax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2-class Classification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3840480"/>
            <a:ext cx="2743200" cy="12801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Race Head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FC: 2048→256→4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+ Softmax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4-class Classification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572000" y="3200400"/>
            <a:ext cx="274320" cy="365760"/>
          </a:xfrm>
          <a:prstGeom prst="downArrow">
            <a:avLst/>
          </a:prstGeom>
          <a:solidFill>
            <a:srgbClr val="817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own Arrow 16"/>
          <p:cNvSpPr/>
          <p:nvPr/>
        </p:nvSpPr>
        <p:spPr>
          <a:xfrm>
            <a:off x="7315200" y="3200400"/>
            <a:ext cx="274320" cy="365760"/>
          </a:xfrm>
          <a:prstGeom prst="downArrow">
            <a:avLst/>
          </a:prstGeom>
          <a:solidFill>
            <a:srgbClr val="817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10058400" y="3200400"/>
            <a:ext cx="274320" cy="365760"/>
          </a:xfrm>
          <a:prstGeom prst="downArrow">
            <a:avLst/>
          </a:prstGeom>
          <a:solidFill>
            <a:srgbClr val="817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8/26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Vai trò các module trong hệ thống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Dòng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Vai trò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face_attribute_model.py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CNN: ResNet50 + SE + 3 heads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dataset.py + loader.py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367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UTKFace, augmentation, Mixup, sampler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Losses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multi_task_loss.py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Wing + Focal + Uncertainty Weighting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Detection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face_detector.py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MTCNN (primary) + Haar (fallback)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Preprocessing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image_processing.py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CLAHE + Blur + Resize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Inference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analyzer.py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466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FaceAnalyzer: TTA + batch predict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Utils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constants.py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Labels, config, age groups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0292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F46E5"/>
                </a:solidFill>
              </a:defRPr>
            </a:pPr>
            <a:r>
              <a:t>Tổng: 13 files  •  ~4.557 dòng Python  •  Ứng dụng: app.py (1.397 dòng Streamlit)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9/26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Pipeline từ đầu vào đến đầu 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2926080" cy="68580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Upload ảnh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286000"/>
            <a:ext cx="2926080" cy="68580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Ensure RGB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108960"/>
            <a:ext cx="2926080" cy="685800"/>
          </a:xfrm>
          <a:prstGeom prst="round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Face Detection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MTCNN / Haar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114800"/>
            <a:ext cx="2926080" cy="68580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Crop + Pad 20px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463040"/>
            <a:ext cx="2926080" cy="6858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CLAHE (LAB)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286000"/>
            <a:ext cx="2926080" cy="68580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6. Resize 224×224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3108960"/>
            <a:ext cx="2926080" cy="68580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7. Normalize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(ImageNet μ, σ)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4114800"/>
            <a:ext cx="2926080" cy="6858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8. TTA × 5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Average predictions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43200"/>
            <a:ext cx="3200400" cy="1097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9. KẾT QUẢ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Age + Gender + Race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371600" y="2148840"/>
            <a:ext cx="274320" cy="365760"/>
          </a:xfrm>
          <a:prstGeom prst="downArrow">
            <a:avLst/>
          </a:prstGeom>
          <a:solidFill>
            <a:srgbClr val="817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own Arrow 14"/>
          <p:cNvSpPr/>
          <p:nvPr/>
        </p:nvSpPr>
        <p:spPr>
          <a:xfrm>
            <a:off x="1371600" y="2926080"/>
            <a:ext cx="274320" cy="365760"/>
          </a:xfrm>
          <a:prstGeom prst="downArrow">
            <a:avLst/>
          </a:prstGeom>
          <a:solidFill>
            <a:srgbClr val="817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own Arrow 15"/>
          <p:cNvSpPr/>
          <p:nvPr/>
        </p:nvSpPr>
        <p:spPr>
          <a:xfrm>
            <a:off x="1371600" y="3886200"/>
            <a:ext cx="274320" cy="365760"/>
          </a:xfrm>
          <a:prstGeom prst="downArrow">
            <a:avLst/>
          </a:prstGeom>
          <a:solidFill>
            <a:srgbClr val="817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own Arrow 16"/>
          <p:cNvSpPr/>
          <p:nvPr/>
        </p:nvSpPr>
        <p:spPr>
          <a:xfrm>
            <a:off x="5212080" y="2148840"/>
            <a:ext cx="274320" cy="365760"/>
          </a:xfrm>
          <a:prstGeom prst="downArrow">
            <a:avLst/>
          </a:prstGeom>
          <a:solidFill>
            <a:srgbClr val="817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5212080" y="2926080"/>
            <a:ext cx="274320" cy="365760"/>
          </a:xfrm>
          <a:prstGeom prst="downArrow">
            <a:avLst/>
          </a:prstGeom>
          <a:solidFill>
            <a:srgbClr val="817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5212080" y="3886200"/>
            <a:ext cx="274320" cy="365760"/>
          </a:xfrm>
          <a:prstGeom prst="downArrow">
            <a:avLst/>
          </a:prstGeom>
          <a:solidFill>
            <a:srgbClr val="817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19"/>
          <p:cNvSpPr/>
          <p:nvPr/>
        </p:nvSpPr>
        <p:spPr>
          <a:xfrm>
            <a:off x="7315200" y="3108960"/>
            <a:ext cx="457200" cy="274320"/>
          </a:xfrm>
          <a:prstGeom prst="rightArrow">
            <a:avLst/>
          </a:prstGeom>
          <a:solidFill>
            <a:srgbClr val="817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10/26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Dữ liệu UTKFace — 23.704 ảnh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50292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Thuộc tính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Giá trị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Tổng ảnh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23.704 (sau lọc lỗi)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JPEG RGB, ~200×200px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Phạm vi tuổi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0 – 116 tuổi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Giới tính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2 lớp: Male (0), Female (1)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Sắc tộc (gốc)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5 lớp → remap thành 4 lớp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Tên file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tuổi_giớitính_sắctộc_time.jpg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280160"/>
          <a:ext cx="50292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Số mẫu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Tỷ lệ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16.592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Val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3.556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3.556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Tổng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23.704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7548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F172A"/>
                </a:solidFill>
              </a:defRPr>
            </a:pPr>
            <a:r>
              <a:t>Cân bằng dữ liệu: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4F46E5"/>
                </a:solidFill>
              </a:defRPr>
            </a:pPr>
            <a:r>
              <a:t>① Race Remap 5→4 lớp   ② WeightedRandomSampler (Race × Age)   ③ Minority-Only Mixup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11/26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Tiền xử lý dữ liệu (Preprocessing)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Pipeline xử lý ảnh số (DIP)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108813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Bước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Kỹ thuật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Tham số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Mục đích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Ensure RGB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auto-detect shape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Chuẩn hóa 3 kênh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CLAHE (LAB)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clipLimit=2.0, grid=8×8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Cân bằng sáng cục bộ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Gaussian Blur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kernel=3 (tùy chọn)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Giảm nhiễu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Resize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224×224 px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Kích thước chuẩn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Data Augmentation (chỉ Training set)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11480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Augmentation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Tham số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Augmentation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Tham số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RandomCrop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224×224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ColorJitter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B=0.2, C=0.2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HorizontalFlip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p=0.5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RandomRotation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±10°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RandomGrayscale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p=0.05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RandomErasing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p=0.1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12/26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Chiến lược huấn luyện 2 pha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029200" cy="2011680"/>
          </a:xfrm>
          <a:prstGeom prst="round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 1: FREEZE BACKBONE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Epoch 1 → 5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• Đóng băng ResNet50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• Chỉ train: SE + 3 Heads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• LR = 1e-3 | Ảnh 160×160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20116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 2: UNFREEZE BACKBONE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Epoch 6 → 50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• Mở khóa toàn bộ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• Differential LR: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  Backbone=1e-5, Heads=1e-4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• Ảnh: 160→192→224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60720" y="2194560"/>
            <a:ext cx="457200" cy="274320"/>
          </a:xfrm>
          <a:prstGeom prst="rightArrow">
            <a:avLst/>
          </a:prstGeom>
          <a:solidFill>
            <a:srgbClr val="817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9 kỹ thuật tối ưu tích hợp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411480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Kỹ thuật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Chi tiết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Freeze→Unfreeze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Tận dụng pretrained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Differential LR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Backbone vs Heads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Gradient Accumulation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Effective batch = 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Mixup (α=0.2)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70% batches, giảm overfit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Progressive Resize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160→192→224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WeightedSampler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Race × Age balancing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AMP (float16)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Tăng tốc 2× trên 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Gradient Clipping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max_norm = 1.0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Early Stopping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patience = 10 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13/26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Hàm mất mát — 3 Loss + Adaptive Weighting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Loss Function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Lý do chọn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Age (regression)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Wing Loss (w=10, ε=2)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Nhạy sai số nhỏ hơn SmoothL1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Gender (2 lớp)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CrossEntropy + LS=0.1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2 lớp cân bằng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Race (4 lớp)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Focal Loss (γ=2) + LS=0.1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Focus mẫu khó, class imbalance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F46E5"/>
                </a:solidFill>
              </a:defRPr>
            </a:pPr>
            <a:r>
              <a:t>Adaptive Uncertainty Weighting (Kendall et al., 2018)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L_total = 0.5·exp(-s₁)·L_age + 0.5·s₁  +  0.5·exp(-s₂)·L_gender + 0.5·s₂  +  0.5·exp(-s₃)·L_race + 0.5·s₃</a:t>
            </a:r>
          </a:p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endParaRPr/>
          </a:p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sₖ = log(σₖ²) là tham số learnable — mô hình TỰ HỌC trọng số cho mỗi task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846320"/>
          <a:ext cx="1088136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Weight ban đầu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Weight sau 50 epochs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Diễn giải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~0.800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Khó nhất → weight 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~1.200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Dễ nhất → weight thấp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~1.000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Trung bình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14/26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Kết quả huấn luyện — 50 Epochs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Epoch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Img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Train Loss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 Loss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 MAE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Gender%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Race%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Freeze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12.12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8.64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18.10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77.8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61.1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Freeze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7.14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5.70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17.06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80.3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62.8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Unfreeze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6.04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4.64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14.59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83.3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67.7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Unfreeze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224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5.14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3.84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13.37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85.7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72.3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Unfreeze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4.48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3.38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12.91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87.5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74.5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Unfreeze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224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4.03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2.88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12.03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89.1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78.3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Unfreeze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3.55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2.55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11.63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90.0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80.4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463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10B981"/>
                </a:solidFill>
              </a:defRPr>
            </a:pPr>
            <a:r>
              <a:t>✅ Không overfitting (Val &lt; Train)    ✅ Loss giảm 71%    ✅ ~3h trên GTX 1650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15/26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Đánh giá trên Test Set — 3.556 mẫu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Chỉ số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Giá trị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Mục tiêu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Đạt?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Age 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4,49 năm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≤ 5 năm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Age Median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3,12 năm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% sai ≤ 5 năm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65,7%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≥ 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Gender Accuracy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93,53%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≥ 90%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Gender Macro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91,31%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≥ 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Race Accuracy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85,69%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≥ 80%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Race Macro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78,14%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≥ 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Điểm tổng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90.0/100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≥ 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✅ B+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0292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0B981"/>
                </a:solidFill>
              </a:defRPr>
            </a:pPr>
            <a:r>
              <a:t>Tất cả chỉ tiêu đều ĐẠT hoặc VƯỢT mục tiêu đặt 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16/26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Sai số tuổi theo nhóm — MAE tăng theo tuổi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Nhóm tuổi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Mẫu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Nhận xét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0-12 (Child)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1,67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0,79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14,3%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✅ Rất tốt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13-19 (Teen)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3,64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2,77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186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5,2%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✅ Tốt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20-35 (Young Adult)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3,77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2,86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1.558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43,8%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✅ Tốt — đông nhất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36-55 (Adult)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6,68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5,56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785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22,1%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⚠️ Trung bình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rPr dirty="0"/>
                        <a:t>56+ (Senior)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8,44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6,92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14,6%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rPr dirty="0"/>
                        <a:t>⚠️ Cao — phi </a:t>
                      </a:r>
                      <a:r>
                        <a:rPr dirty="0" err="1"/>
                        <a:t>tuyến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463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Xu hướng: Sai số tăng tuyến tính theo tuổi — phù hợp trực giác.</a:t>
            </a:r>
          </a:p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Nhóm 56+ sai số cao nhất do lão hóa phi tuyến + ít mẫu.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17/26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Confusion Matrix — Gender (93,53%)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50292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Pred: Male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Pred: Female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172A"/>
                          </a:solidFill>
                        </a:defRPr>
                      </a:pPr>
                      <a:r>
                        <a:t>Actual: Male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172A"/>
                          </a:solidFill>
                        </a:defRPr>
                      </a:pPr>
                      <a:r>
                        <a:t>1.764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172A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172A"/>
                          </a:solidFill>
                        </a:defRPr>
                      </a:pPr>
                      <a:r>
                        <a:t>Actual: Female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172A"/>
                          </a:solidFill>
                        </a:defRPr>
                      </a:pPr>
                      <a:r>
                        <a:t>212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172A"/>
                          </a:solidFill>
                        </a:defRPr>
                      </a:pPr>
                      <a:r>
                        <a:t>1.485 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37160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89,27%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94,89%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91,99%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93,99%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87,51%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90,63%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91,63%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91,20%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91,31%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931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• Male: Recall cao (94,9%) → hiếm khi bỏ sót nam</a:t>
            </a:r>
          </a:p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• Female: Precision cao (94,0%) → khi nói nữ thì rất chính xác</a:t>
            </a:r>
          </a:p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• Macro F1 = 91,31% — cân bằng tốt giữa 2 lớp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18/26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Confusion Matrix — Race (85,69%)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White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Black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Asian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White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1.230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Black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579 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Asian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438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556 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0" y="1371600"/>
          <a:ext cx="4754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White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85,4%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81,0%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83,1%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Black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75,6%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87,3%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81,0%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Asian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77,7%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83,1%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80,3%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70,8%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65,6%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68,1%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3891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• Others (Indian+Others gộp) F1 thấp nhất (68,1%) → cần cải thiện</a:t>
            </a:r>
          </a:p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• Black recall xuất sắc (87,3%)</a:t>
            </a:r>
          </a:p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• Nhầm chính: White ↔ Others (290 mẫu)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19/26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Radar hiệu năng tổng quan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Chỉ số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Thực tế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Mục tiêu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Age Score (100-MAE×5)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77,5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-1,5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Gender Accuracy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93,5%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-0,5%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Race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85,7%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-2,3%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Gender F1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91,3%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93%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-1,7%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Race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78,1%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-6,9%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3891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Mô hình đạt gần mục tiêu ở hầu hết chỉ số.</a:t>
            </a:r>
          </a:p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Race F1 (78,1%) là điểm cần cải thiện nhất (-6,9% so với target).</a:t>
            </a:r>
          </a:p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endParaRPr/>
          </a:p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→ Tham chiếu biểu đồ: chart/10_radar_performance.png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20/26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Benchmark tốc độ Inference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Chế độ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Device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FPS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TTA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Ảnh tĩnh (MTCNN)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~800ms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✅ 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Ảnh tĩnh (MTCNN)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GPU (1650)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~200ms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5.0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✅ 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Camera live (Haar)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~100ms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❌ 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Camera live (Haar)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GPU (1650)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~40-60ms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17-25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❌ Off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3891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• MTCNN + TTA: chậm nhưng chính xác cao → phù hợp ảnh tĩnh</a:t>
            </a:r>
          </a:p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• Haar + no TTA: nhanh hơn 5-10× → phù hợp real-time</a:t>
            </a:r>
          </a:p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• GPU acceleration: tăng tốc 3-5× so với CPU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21/26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So sánh phiên bản v2 vs v3+ (Final)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v2 (Baseline)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v3+ (Final)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 Cải thiện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Age 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5,88 năm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4,49 năm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-1,39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↓ 23,6%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Gender Acc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91,37%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93,53%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+2,16%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↑ 2,4%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Race Acc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78,82%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85,69%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+6,87%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↑ 8,7%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Val Loss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2,555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~2,10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-0,46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↓ 18%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~2,8h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~3,2h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+0,4h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3891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v3+ vượt trội ở tất cả chỉ số:</a:t>
            </a:r>
          </a:p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• Age MAE giảm mạnh nhất (23,6%) → Wing Loss + Progressive Resize</a:t>
            </a:r>
          </a:p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• Race Acc cải thiện lớn nhất (8,7%) → Focal Loss + WeightedSampler + Mixup</a:t>
            </a:r>
          </a:p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• Chi phí: chỉ thêm ~0,4h training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22/26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Đóng góp của từng kỹ thuật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Kỹ thuật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Đóng góp chính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Wing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Age MAE giảm ~0,5 năm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Focal Loss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Race Accuracy tăng ~3%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Adaptive Uncertainty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Cân bằng 3 task tự động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Freeze/Unfreeze + DLR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Gender Accuracy tăng ~1%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Mixup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Giảm overfitting, +1% generalization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Progressive Resize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Giảm 20% thời gian training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WeightedSampler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Race Accuracy tăng ~2%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TTA (inference)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Tất cả metrics tăng ~1-2%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23/26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Hướng phát triển tương lai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303520" cy="2194560"/>
          </a:xfrm>
          <a:prstGeom prst="round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🧠 Cải thiện mô hình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EfficientNet-B3/B4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Vision Transformer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Ordinal Regression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ArcFace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21945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📊 Mở rộng dữ liệu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FairFace (108K ảnh)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MORPH II (55K)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IMDB-WIKI (500K+)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Cross-dataset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5303520" cy="219456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🚀 Triển khai sản phẩm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FastAPI REST API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Docker + Cloud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Mobile (TFLite/ONNX)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Edge (Jetson/Coral)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931920"/>
            <a:ext cx="5303520" cy="2194560"/>
          </a:xfrm>
          <a:prstGeom prst="roundRect">
            <a:avLst/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✨ Tính năng mới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Anti-Spoofing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Expression Recognition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Multi-Face Tracking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Grad-CAM Explainability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24/26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Demo ứng dụng Streamlit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474720" cy="25603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Tab 1: Ảnh tĩnh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Upload / Webcam / Clipboard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MTCNN + TTA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Bounding box + Labels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Metric cards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63040"/>
            <a:ext cx="3474720" cy="2560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Tab 2: Camera Live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OpenCV VideoCapture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Haar Cascade + no TTA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Real-time overlay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17-25 FPS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463040"/>
            <a:ext cx="3474720" cy="2560320"/>
          </a:xfrm>
          <a:prstGeom prst="roundRect">
            <a:avLst/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Tab 3: Biểu đồ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13 Plotly interactive charts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Training curves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Confusion Matrix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• Radar + Score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Giao diện Streamlit 3 tab, custom CSS (Indigo theme), responsive layout</a:t>
            </a:r>
          </a:p>
          <a:p>
            <a:pPr>
              <a:spcAft>
                <a:spcPts val="900"/>
              </a:spcAft>
              <a:defRPr sz="1400" b="0">
                <a:solidFill>
                  <a:srgbClr val="0F172A"/>
                </a:solidFill>
              </a:defRPr>
            </a:pPr>
            <a:r>
              <a:t>Chạy: streamlit run app.py → http://localhost:8501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t>FaceVision AI — Nguyễn Văn Tùng Dương                                                                                           25/26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Tóm tắt kết quả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74720" cy="18288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🎯 Age MAE</a:t>
            </a:r>
          </a:p>
          <a:p>
            <a:pPr algn="ctr">
              <a:defRPr sz="1600" b="0">
                <a:solidFill>
                  <a:srgbClr val="FFFFFF"/>
                </a:solidFill>
              </a:defRPr>
            </a:pPr>
            <a:r>
              <a:t>4,49 năm</a:t>
            </a:r>
          </a:p>
          <a:p>
            <a:pPr algn="ctr">
              <a:defRPr sz="1600" b="0">
                <a:solidFill>
                  <a:srgbClr val="FFFFFF"/>
                </a:solidFill>
              </a:defRPr>
            </a:pPr>
            <a:r>
              <a:t>(mục tiêu ≤5 ✅)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71600"/>
            <a:ext cx="3474720" cy="18288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👤 Gender Acc</a:t>
            </a:r>
          </a:p>
          <a:p>
            <a:pPr algn="ctr">
              <a:defRPr sz="1600" b="0">
                <a:solidFill>
                  <a:srgbClr val="FFFFFF"/>
                </a:solidFill>
              </a:defRPr>
            </a:pPr>
            <a:r>
              <a:t>93,53%</a:t>
            </a:r>
          </a:p>
          <a:p>
            <a:pPr algn="ctr">
              <a:defRPr sz="1600" b="0">
                <a:solidFill>
                  <a:srgbClr val="FFFFFF"/>
                </a:solidFill>
              </a:defRPr>
            </a:pPr>
            <a:r>
              <a:t>(mục tiêu ≥90% ✅)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371600"/>
            <a:ext cx="3474720" cy="1828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🌍 Race Acc</a:t>
            </a:r>
          </a:p>
          <a:p>
            <a:pPr algn="ctr">
              <a:defRPr sz="1600" b="0">
                <a:solidFill>
                  <a:srgbClr val="FFFFFF"/>
                </a:solidFill>
              </a:defRPr>
            </a:pPr>
            <a:r>
              <a:t>85,69%</a:t>
            </a:r>
          </a:p>
          <a:p>
            <a:pPr algn="ctr">
              <a:defRPr sz="1600" b="0">
                <a:solidFill>
                  <a:srgbClr val="FFFFFF"/>
                </a:solidFill>
              </a:defRPr>
            </a:pPr>
            <a:r>
              <a:t>(mục tiêu ≥80% ✅)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0F172A"/>
                </a:solidFill>
              </a:defRPr>
            </a:pPr>
            <a:r>
              <a:t>• 1 model duy nhất — dự đoán đồng thời 3 thuộc tính</a:t>
            </a:r>
          </a:p>
          <a:p>
            <a:pPr>
              <a:spcAft>
                <a:spcPts val="900"/>
              </a:spcAft>
              <a:defRPr sz="1500" b="0">
                <a:solidFill>
                  <a:srgbClr val="0F172A"/>
                </a:solidFill>
              </a:defRPr>
            </a:pPr>
            <a:r>
              <a:t>• 9 kỹ thuật huấn luyện nâng cao</a:t>
            </a:r>
          </a:p>
          <a:p>
            <a:pPr>
              <a:spcAft>
                <a:spcPts val="900"/>
              </a:spcAft>
              <a:defRPr sz="1500" b="0">
                <a:solidFill>
                  <a:srgbClr val="0F172A"/>
                </a:solidFill>
              </a:defRPr>
            </a:pPr>
            <a:r>
              <a:t>• Pipeline suy luận 4 tầng (Detection → Preprocessing → Model → TTA)</a:t>
            </a:r>
          </a:p>
          <a:p>
            <a:pPr>
              <a:spcAft>
                <a:spcPts val="900"/>
              </a:spcAft>
              <a:defRPr sz="1500" b="0">
                <a:solidFill>
                  <a:srgbClr val="0F172A"/>
                </a:solidFill>
              </a:defRPr>
            </a:pPr>
            <a:r>
              <a:t>• v3+ vượt v2: Age ↓23,6%, Race ↑8,7%</a:t>
            </a:r>
          </a:p>
          <a:p>
            <a:pPr>
              <a:spcAft>
                <a:spcPts val="900"/>
              </a:spcAft>
              <a:defRPr sz="1500" b="0">
                <a:solidFill>
                  <a:srgbClr val="0F172A"/>
                </a:solidFill>
              </a:defRPr>
            </a:pPr>
            <a:r>
              <a:t>• Giao diện Streamlit 3 chế độ, camera real-time 17-25 FPS</a:t>
            </a:r>
          </a:p>
          <a:p>
            <a:pPr>
              <a:spcAft>
                <a:spcPts val="900"/>
              </a:spcAft>
              <a:defRPr sz="1500" b="0">
                <a:solidFill>
                  <a:srgbClr val="0F172A"/>
                </a:solidFill>
              </a:defRPr>
            </a:pPr>
            <a:r>
              <a:t>• TẤT CẢ 6/6 MỤC TIÊU ĐẠT HOẶC VƯỢT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CẢM ƠN QUÝ THẦY CÔ</a:t>
            </a:r>
            <a:br/>
            <a:r>
              <a:t>ĐÃ LẮNG NGHE!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7D2FE"/>
                </a:solidFill>
              </a:defRPr>
            </a:pPr>
            <a:r>
              <a:t>Kính mời Thầy/Cô đặt câu hỏi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5B4FC"/>
                </a:solidFill>
              </a:defRPr>
            </a:pPr>
            <a:r>
              <a:t>📧  Nguyễn Văn Tùng Dương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18CF8"/>
                </a:solidFill>
              </a:defRPr>
            </a:pPr>
            <a:r>
              <a:t>🔗  github.com/facevision-ai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3274</Words>
  <Application>Microsoft Office PowerPoint</Application>
  <PresentationFormat>Widescreen</PresentationFormat>
  <Paragraphs>765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2374802010086 - Nguyễn Văn Tùng Dương - 71K29CNTT12</cp:lastModifiedBy>
  <cp:revision>2</cp:revision>
  <dcterms:created xsi:type="dcterms:W3CDTF">2013-01-27T09:14:16Z</dcterms:created>
  <dcterms:modified xsi:type="dcterms:W3CDTF">2026-04-14T11:19:26Z</dcterms:modified>
  <cp:category/>
</cp:coreProperties>
</file>