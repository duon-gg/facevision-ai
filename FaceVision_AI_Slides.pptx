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80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mở đầu - Giới thiệu tên đề tài và sinh viên thực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Chào hội đồng, hôm nay em xin phép trình bày đề tài FaceVision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FaceVision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38BDF8"/>
                </a:solidFill>
                <a:latin typeface="Calibri"/>
              </a:defRPr>
            </a:pPr>
            <a:r>
              <a:t>Hệ thống dự đoán thuộc tính khuôn mặt</a:t>
            </a:r>
            <a:br/>
            <a:r>
              <a:t>sử dụng Học sâu Đa nhiệm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Đề tài: Multi-Task Face Attribute Prediction (Age, Gender, Race)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Sinh viên: Nguyễn Văn Tùng Dương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📋 Nội dung Trình bày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1. Tổng quan &amp; Mục tiêu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Bối cảnh, lý do chọn đề tài, chỉ tiêu.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0292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2. 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Pipeline 4 tầng, mô hình ResNet50 + 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0292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3. Dữ liệu &amp; Tối ưu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UTKFace, tiền xử lý, 9 kỹ thuật huấn luyện.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02920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4. Kết quả &amp; Đánh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Hiệu năng, confusion matrix, so sánh.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54864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6534"/>
                </a:solidFill>
                <a:latin typeface="Calibri"/>
              </a:defRPr>
            </a:pPr>
            <a:r>
              <a:t>💬 Bài thuyết trình gồm 4 phần chính, đi từ lý do chọn đề tài đến kết quả thực nghiệm.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🌍 Bối cảnh Thực tiễn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Phân tích khuôn mặt tự động là lĩnh vực trọng điểm AI với nhu cầu thực tiễn lớn: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🛡️ An ninh - Giám sát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Nhận diện đối tượng tại sân bay, nhà 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0116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📢 Marketing Thông minh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Digital Signage hiển thị theo tuổi, giới.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0116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💊 Y tế &amp; Sức khỏe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Nghiên cứu lão hóa, đánh giá sức khỏe 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0116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59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😄 Giải trí &amp; MXH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Bộ lọc khuôn mặt, hiệu ứng biến đổi tuổi.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Thách thức: Sự đa dạng khuôn mặt, lão hóa phi tuyến và mất cân bằng dữ liệu.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💡 Tại sao chọn Multi-Task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1 model duy nhất dự đoán đồng thời 3 thuộc tính (Shared representation) → Tiết kiệm tài nguyên.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Vấn đề ở công trình cũ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 err="1"/>
                        <a:t>Giải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pháp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trong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FaceVision</a:t>
                      </a:r>
                      <a:r>
                        <a:rPr dirty="0"/>
                        <a:t> 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Dùng SmoothL1 Loss cho tuổi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Wing Loss: Nhạy hơn với sai số nhỏ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CrossEntropy chuẩn cho sắc tộc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Focal Loss (γ=2): Cải thiện lớp thiểu số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Trọng số task cố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Adaptive Uncertainty Weighting: Tự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Không tận dụng DIP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CLAHE trên không gian LAB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Inference 1 lần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rPr dirty="0"/>
                        <a:t>✅ TTA: Trung </a:t>
                      </a:r>
                      <a:r>
                        <a:rPr dirty="0" err="1"/>
                        <a:t>bình</a:t>
                      </a:r>
                      <a:r>
                        <a:rPr dirty="0"/>
                        <a:t> 5 </a:t>
                      </a:r>
                      <a:r>
                        <a:rPr dirty="0" err="1"/>
                        <a:t>phép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biến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đổi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🎯 Mục tiêu Đồ án &amp; Chỉ tiêu Đạt được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Mục tiêu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Chỉ tiêu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Dự đoán tuổi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MAE ≤ 5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4.49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Phân loại giới tính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Accuracy ≥ 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93.53%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Phân loại sắc tộc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Accuracy ≥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85.69%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Thời gian thực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Camera ≥ 15 FPS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17-25 FPS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Giao diện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 chế độ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0" y="5303520"/>
            <a:ext cx="393192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53492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🏆 Đạt 6/6 mục tiêu đề 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🏗️ Tổng quan Kiến trúc Hệ thống 4 Tầng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18320" cy="9144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5087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TẦNG 1: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Upload ảnh / Chụp Webcam / Camera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9144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TẦNG 2: FACE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MTCNN (chính xác) ↔ Haar Cascade (nhanh)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23360"/>
            <a:ext cx="9418320" cy="9144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40690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TẦNG 3: PREPROCESSING (DIP)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8056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Crop → RGB → CLAHE (LAB) → Resize 224×224 → 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937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03519"/>
            <a:ext cx="9418320" cy="9144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5349239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TẦNG 4: PREDICTION (CNN)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760719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ResNet50 + SE Attention → 3 Heads + TTA (5 augs)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📦 Vai trò của 7 Module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Models: face_attribute_model.py — Kiến trúc CNN đa nhiệm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Data: dataset.py, loader.py — Đọc UTKFace, Augmentation, Mixup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Losses: multi_task_loss.py — WingLoss, FocalLoss,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Detection: face_detector.py — Phát hiện khuôn mặt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Preprocessing: image_processing.py — Pipeline xử lý ảnh DIP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Inference: analyzer.py — Pipeline suy luận + TTA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Utils: constants.py — Hằng số, cấu hình, nhãn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502920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💻 Giao diện Web (Streamlit)</a:t>
            </a:r>
            <a:br/>
            <a:r>
              <a:t>app.py: 3 tab (Ảnh tĩnh, Camera Live, Biểu đồ)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🔗 Kiến trúc Mô hình Tổng thể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Tổng tham số: ~26.2 triệu (Backbone chiếm 87.5%)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2860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[B, 3, 224, 224]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22860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ResNet50</a:t>
            </a:r>
            <a:br/>
            <a:r>
              <a:t>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260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ImageNet Pretrained</a:t>
            </a:r>
            <a:br/>
            <a:r>
              <a:t>→ [B, 2048]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22860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2194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SE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9260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Channel Attention</a:t>
            </a:r>
            <a:br/>
            <a:r>
              <a:t>Squeeze &amp; Excite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011680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46E5"/>
                </a:solidFill>
                <a:latin typeface="Calibri"/>
              </a:defRPr>
            </a:pPr>
            <a:r>
              <a:t>Age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1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200400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46E5"/>
                </a:solidFill>
                <a:latin typeface="Calibri"/>
              </a:defRPr>
            </a:pPr>
            <a:r>
              <a:t>Gender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2 Logits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389120"/>
            <a:ext cx="2286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4434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F46E5"/>
                </a:solidFill>
                <a:latin typeface="Calibri"/>
              </a:defRPr>
            </a:pPr>
            <a:r>
              <a:t>Race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4 Logits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🔍 Squeeze-and-Excitation (SE)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75569"/>
                </a:solidFill>
                <a:latin typeface="Calibri"/>
              </a:defRPr>
            </a:pPr>
            <a:r>
              <a:t>Mục đích: Channel Attention — Tự động gán trọng số cho từng kênh đặc trưng.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1. Squeeze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Global Average Pooling nén feature map → vector [B, 2048].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10312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2. Excitation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3017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2 lớp FC (reduction=16) học trọng số kênh qua Sigmoid.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0312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Calibri"/>
              </a:defRPr>
            </a:pPr>
            <a:r>
              <a:t>3.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Nhân trọng số [0,1] với feature map gốc. Kênh quan trọng ≈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🌿 Kiến trúc Chi tiết 3 Prediction Heads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Tất cả Head sử dụng Dropout(0.3) để chống Overfitting.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Age Head (Hồi quy)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310896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Linear(2048,512) → BN → ReLU</a:t>
            </a:r>
            <a:br/>
            <a:r>
              <a:t>→ Dropout(0.3)</a:t>
            </a:r>
            <a:br/>
            <a:r>
              <a:t>→ Linear(512,128) → BN → ReLU</a:t>
            </a:r>
            <a:br/>
            <a:r>
              <a:t>→ Linear(128,1) → ReLU → clamp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Gender Head (Nhị phân)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926080"/>
            <a:ext cx="310896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Linear(2048,256) → BN → ReLU</a:t>
            </a:r>
            <a:br/>
            <a:r>
              <a:t>→ Dropout(0.3)</a:t>
            </a:r>
            <a:br/>
            <a:r>
              <a:t>→ Linear(256,2)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Race Head (Đa lớp)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926080"/>
            <a:ext cx="3108960" cy="2743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Linear(2048,256) → BN → ReLU</a:t>
            </a:r>
            <a:br/>
            <a:r>
              <a:t>→ Dropout(0.3)</a:t>
            </a:r>
            <a:br/>
            <a:r>
              <a:t>→ Linear(256,4)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⏱️ Pipeline Data Input →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1: Tải ảnh / Camera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2: Chuyển RGB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3: MTCNN / Haar phát hiện khuôn mặt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4: Crop ảnh (padding 20px)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5: CLAHE trên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6: Resize 224×224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Bước 7: Normalize theo ImageNet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Calibri"/>
              </a:defRPr>
            </a:pPr>
            <a:r>
              <a:t>✨ Bước 8: TTA (5 augmentations)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→ Ảnh gốc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→ Lật ngang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→ Tăng sáng +10%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→ Giảm sáng -10%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→ Xoay 5°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389120"/>
            <a:ext cx="50292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434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Bước 9: KẾT QUẢ</a:t>
            </a:r>
            <a:br/>
            <a:r>
              <a:t>Tuổi: 25 | Nữ (95%) | Châu Á (92%)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🗃️ Dữ liệu UTKFace &amp; Phân bổ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Tổng số ảnh: 23.704 (sau lọc lỗi)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Phạm vi tuổi: 0 - 116 tuổi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Giới tính: Male (0), Female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Chia tập: 70% / 15% / 15% (Stratify)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Sắc tộc: 5→4 lớp (Indian+Others gộp)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274320" cy="2743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White (42.5%)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560320"/>
            <a:ext cx="274320" cy="2743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Others (23.9%)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74720"/>
            <a:ext cx="2743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Black (19.1%)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389120"/>
            <a:ext cx="27432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Calibri"/>
              </a:defRPr>
            </a:pPr>
            <a:r>
              <a:t>Asian (14.5%)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⚖️ Giải quyết Mất cân bằng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Calibri"/>
              </a:defRPr>
            </a:pPr>
            <a:r>
              <a:t>3 kỹ thuật cân bằng dữ liệu: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1. Race Remap (5→4)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Gộp Indian + Others thành Others.</a:t>
            </a:r>
            <a:br/>
            <a:r>
              <a:t>Giảm nhiễu cho mô hình.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0116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47472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2. WeightedRandomSampler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08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Trọng số đa yếu tố (Sắc tộc × Tuổi).</a:t>
            </a:r>
            <a:br/>
            <a:r>
              <a:t>Lớp thiểu số xuất hiện nhiều hơn.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47472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3. Minority-Only Mixup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Chỉ trộn ảnh nhóm thiểu số</a:t>
            </a:r>
            <a:br/>
            <a:r>
              <a:t>(Black, Asian). Tiết kiệm GPU.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🖼️ Tiền xử lý Ảnh số (DIP) &amp;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Calibri"/>
              </a:defRPr>
            </a:pPr>
            <a:r>
              <a:t>Tiền xử lý DIP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Ensure RGB: Loại bỏ ảnh xám/RGBA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CLAHE: Chuyển LAB → cân bằng kênh 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 → Tránh lóa/cháy, cứu ảnh tối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✅ Gaussian Blur: Khử nhiễu nhẹ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Augmentation (Train phase)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92024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Kỹ thuật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Mục đích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Random 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Tăng đa dạng vùng mặt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Horizontal Flip (50%)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Bất biến hướng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ColorJitter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Bền vững ánh sáng/màu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Random Rotation (±10°)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Bất biến góc nghiêng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Random Erasing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Chống Overfitting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⚙️ Chiến lược Huấn luyện 2 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Khắc phục Catastrophic Forgetting của Backbone.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Calibri"/>
              </a:defRPr>
            </a:pPr>
            <a:r>
              <a:t>PHA 1: Freeze Backbone (Epoch 1→5)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Đóng băng toàn bộ ResNet50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Chỉ train: SE Block + 3 Heads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Learning Rate = 1e-3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Ảnh nhỏ 160×160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Heads hội tụ nhanh, học map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30352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PHA 2: Unfreeze (Epoch 6→50)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Mở khóa toàn bộ mô hình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Differential LR: Backbone 1e-5, Heads 1e-4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→ Progressive Resize: 192→224px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29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Fine-tune nhẹ, không phá hỏng pretrained.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🧰 9 Kỹ thuật Tối ưu Nâng cao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1. Freeze/Unfreeze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Tận dụng pre-trained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2. Differential 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LR khác nhau Backbone &amp; Heads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3. Gradient Accumulation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Effective Batch = 128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4. Mixup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Trộn ảnh/nhãn thiểu số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10896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5. Progressive Resizing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160→192→224px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6. WeightedRandomSampler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Cân bằng đa yếu tố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7. AMP (Mixed Precision)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float16, nhanh 2×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75488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892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8. Gradient Clipping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Tránh gradient bùng nổ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75488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892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9. Early Stopping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Ngăn Overfitting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🔢 Hàm Mất mát &amp; Adaptive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Ba hàm Loss chuyên biệt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Age: Wing Loss — Nhạy với sai số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Gender: CrossEntropy + Label Smoothing 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✅ Race: Focal Loss (γ=2) — Phạt mẫu khó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Tự học trọng số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Mô hình tự cân bằng 3 task qua</a:t>
            </a:r>
            <a:br/>
            <a:r>
              <a:t>homoscedastic uncertainty:</a:t>
            </a:r>
            <a:br/>
            <a:br/>
            <a:r>
              <a:t>L = Σ (1/(2σᵢ²) · Lᵢ + log(σᵢ))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474720"/>
            <a:ext cx="46634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35204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Consolas"/>
              </a:defRPr>
            </a:pPr>
            <a:r>
              <a:t>L_total = Σ [ ½·exp(-sᵢ)·Lᵢ + ½·sᵢ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Kết quả Ep50: Trọng số Age lớn nhất (~0.8),</a:t>
            </a:r>
            <a:br/>
            <a:r>
              <a:t>Gender nhỏ nhất (~1.2). Mô hình tự ưu tiên</a:t>
            </a:r>
            <a:br/>
            <a:r>
              <a:t>học Age &amp; Race (khó) hơn Gender (dễ).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📈 Quá trình Huấn luyện (50 Epochs)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9326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Img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Val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Age MAE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18.10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Freeze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5.70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17.06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80.3%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62.8%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14.59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3.38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12.91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74.5%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Unfreeze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11.63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✅ Hội tụ đều đặn, không Overfitting. Loss giảm liên tục 71%.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📋 Đánh giá trên Test Set (3.556 ảnh)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F46E5"/>
                </a:solidFill>
                <a:latin typeface="Calibri"/>
              </a:defRPr>
            </a:pPr>
            <a:r>
              <a:t>4.49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Age MAE (Năm)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34747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5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F46E5"/>
                </a:solidFill>
                <a:latin typeface="Calibri"/>
              </a:defRPr>
            </a:pPr>
            <a:r>
              <a:t>93.5%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Gender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47472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F46E5"/>
                </a:solidFill>
                <a:latin typeface="Calibri"/>
              </a:defRPr>
            </a:pPr>
            <a:r>
              <a:t>85.6%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Race Accuracy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474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Nhóm tuổi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Nhận xét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0-12 (Child)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Rất tốt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20-35 (Young Adult)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3.77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2.86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✅ Tốt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36-55 (Adult)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Trung bình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56+ (Senior)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8.44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6.92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Cao, biến thiên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👫 Confusion Matrix: Gender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0" y="164592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Pred 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Pred Female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Actual 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Actual Female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1,485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0" y="3931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46E5"/>
                </a:solidFill>
                <a:latin typeface="Calibri"/>
              </a:defRPr>
            </a:pPr>
            <a:r>
              <a:t>Class Male:</a:t>
            </a:r>
            <a:br/>
            <a:r>
              <a:t>  Recall: 94.89%</a:t>
            </a:r>
            <a:br/>
            <a:r>
              <a:t>  F1: 91.99%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931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Calibri"/>
              </a:defRPr>
            </a:pPr>
            <a:r>
              <a:t>Class Female:</a:t>
            </a:r>
            <a:br/>
            <a:r>
              <a:t>  Precision: 93.99%</a:t>
            </a:r>
            <a:br/>
            <a:r>
              <a:t>  F1: 90.63%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Calibri"/>
              </a:defRPr>
            </a:pPr>
            <a:r>
              <a:t>"Hiếm khi bỏ sót Nam (Recall cao). Khi dự đoán Nữ thì rất chính xác (Precision cao)."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🌏 Confusion Matrix: Race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Pred White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Pred Black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Pred Asian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Pred Others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True White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True Black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True Asian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True Others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556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Others có F1 thấp nhất (68.1%) do quá đa dạng. White &amp; Black nhận diện tốt (F1 &gt; 81%).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⭐ Điểm Tổng hợp Đánh giá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Calibri"/>
              </a:defRPr>
            </a:pPr>
            <a:r>
              <a:t>Công thức quy đổi tự đánh giá: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589520" cy="10972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0" y="265176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onsolas"/>
              </a:defRPr>
            </a:pPr>
            <a:r>
              <a:t>Score = (100 - age_mae * 2) * 0.3</a:t>
            </a:r>
            <a:br/>
            <a:r>
              <a:t>     + gender_acc * 0.35</a:t>
            </a:r>
            <a:br/>
            <a:r>
              <a:t>     + race_acc * 0.35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  <a:latin typeface="Calibri"/>
              </a:defRPr>
            </a:pPr>
            <a:r>
              <a:t>= (100 - 4.49×2)×0.3 + 93.53×0.35 + 85.69×0.35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≈ 90.0 /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212080"/>
            <a:ext cx="393192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Xếp hạng: B+ (TỐT)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🔄 So sánh Hiệu năng: v2 vs v3+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v2 (Baseline)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v3+ (Final)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Cải thiện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Age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5.88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4.49 năm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↓ 23.6%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Gender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91.37%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93.53%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↑ 2.4%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Race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78.82%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85.69%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↑ 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~2.8h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~3.2h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+0.4h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Wing Loss + Progressive Resizing → Age giảm 23.6%</a:t>
            </a:r>
            <a:br/>
            <a:r>
              <a:t>Focal Loss + WeightedSampler → Race tăng 8.7%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🚀 Định hướng Phát triển Tương lai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1. Cải tiến Mô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Thay ResNet50 bằng EfficientNet hoặc</a:t>
            </a:r>
            <a:br/>
            <a:r>
              <a:t>ViT-Small. Ordinal Regression.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2. Triển khai Thực tế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FastAPI + Docker.</a:t>
            </a:r>
            <a:br/>
            <a:r>
              <a:t>Nén mô hình cho Edge/Mobile.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3. Mở rộng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FairFace (108k ảnh) hoặc IMDB-WIKI</a:t>
            </a:r>
            <a:br/>
            <a:r>
              <a:t>tăng độ phủ sắc tộc.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30352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4. Mở rộng Tính năng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46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Nhận diện biểu cảm (Happy/Sad).</a:t>
            </a:r>
            <a:br/>
            <a:r>
              <a:t>Anti-Spoofing chống giả mạo.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46E5"/>
                </a:solidFill>
                <a:latin typeface="Calibri"/>
              </a:defRPr>
            </a:pPr>
            <a:r>
              <a:t>⚡ Tóm tắt 1 Phút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327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FaceVision AI là hệ thống End-to-End dự đoán đồng thời 3 thuộc tính khuôn mặt sử dụng 1 mô hình ResNet50 + SE Attention duy nhất.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Calibri"/>
              </a:defRPr>
            </a:pPr>
            <a:r>
              <a:t>Kết hợp 9 kỹ thuật tiên tiến (Wing Loss, Focal Loss, TTA, Adaptive Weights) đạt kết quả vượt trội trên 3.556 ảnh test: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75569"/>
                </a:solidFill>
                <a:latin typeface="Calibri"/>
              </a:defRPr>
            </a:pPr>
            <a:r>
              <a:t>✅ Sai số tuổi: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4.49 năm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75569"/>
                </a:solidFill>
                <a:latin typeface="Calibri"/>
              </a:defRPr>
            </a:pPr>
            <a:r>
              <a:t>✅ Độ chính xác giới tính: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93.5%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75569"/>
                </a:solidFill>
                <a:latin typeface="Calibri"/>
              </a:defRPr>
            </a:pPr>
            <a:r>
              <a:t>✅ Độ chính xác sắc tộc: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85.7%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Calibri"/>
              </a:defRPr>
            </a:pPr>
            <a:r>
              <a:t>✅✅ Đạt 6/6 Mục tiêu Đồ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CẢM ƠN HỘI ĐỒNG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8BDF8"/>
                </a:solidFill>
                <a:latin typeface="Calibri"/>
              </a:defRPr>
            </a:pP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chú</a:t>
            </a:r>
            <a:r>
              <a:rPr dirty="0"/>
              <a:t> ý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389120"/>
            <a:ext cx="3931920" cy="1097280"/>
          </a:xfrm>
          <a:prstGeom prst="roundRect">
            <a:avLst/>
          </a:prstGeom>
          <a:solidFill>
            <a:srgbClr val="3B35CC"/>
          </a:solidFill>
          <a:ln w="12700">
            <a:solidFill>
              <a:srgbClr val="6B6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💬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2282</Words>
  <Application>Microsoft Office PowerPoint</Application>
  <PresentationFormat>Widescreen</PresentationFormat>
  <Paragraphs>397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2374802010086 - Nguyễn Văn Tùng Dương - 71K29CNTT12</cp:lastModifiedBy>
  <cp:revision>1</cp:revision>
  <dcterms:created xsi:type="dcterms:W3CDTF">2013-01-27T09:14:16Z</dcterms:created>
  <dcterms:modified xsi:type="dcterms:W3CDTF">2026-04-14T17:13:28Z</dcterms:modified>
  <cp:category/>
</cp:coreProperties>
</file>